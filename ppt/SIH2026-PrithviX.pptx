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BAA528-91EB-4941-B176-F0AFE8F3F62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19E475-9B3E-4542-8FED-5D9AB44A768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D7781B7-29E9-4E83-863A-6ABB176F207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3F262B0-7922-4703-8A00-8E20385F695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9EF780C-EF5D-49C1-9552-0F97C99FBDB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A9DC54-FEFB-46EC-8C10-A0993AA143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B75EE8B-B5A0-4341-8C9C-0A0469083CF4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B39017-7E49-4866-8EE5-8D653CCAF48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08960" cy="1159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3360" cy="5851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08960" cy="4689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A22132-4D3A-4E0D-B373-C5C0AD3F7C9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3040" cy="564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3040" cy="411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3040" cy="80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8BE4535-B7A3-4006-989C-5D810A8D62EC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160" cy="1467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81C702-A0DE-4436-93B2-E640A05F8A74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0640" cy="5028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26D3542-A465-497F-8849-A5FCF5C05ED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1040" cy="5849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4400" cy="5849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8B21A8-A2F8-4036-BEE1-5B2624A5532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0640" cy="5028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128EB5-FE50-466A-897E-E23506BBA23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1160" cy="1360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1160" cy="1497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BA9A7C1-C4A7-401B-A0AC-CB2FA955DDB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2720" cy="4523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2720" cy="4523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8ADBE5-8FB0-4E50-9110-C92942B0BA88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4880" cy="637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4880" cy="3949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7040" cy="637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7040" cy="3949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848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CE7770F-1E0A-4B63-BFD6-F8230B243CCA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1840" cy="6855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6600" y="914400"/>
            <a:ext cx="4636440" cy="5152680"/>
          </a:xfrm>
          <a:custGeom>
            <a:avLst/>
            <a:gdLst>
              <a:gd name="textAreaLeft" fmla="*/ 0 w 4636440"/>
              <a:gd name="textAreaRight" fmla="*/ 4638600 w 4636440"/>
              <a:gd name="textAreaTop" fmla="*/ 0 h 5152680"/>
              <a:gd name="textAreaBottom" fmla="*/ 5154840 h 515268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4"/>
          <p:cNvPicPr/>
          <p:nvPr/>
        </p:nvPicPr>
        <p:blipFill>
          <a:blip r:embed="rId1"/>
          <a:srcRect l="0" t="0" r="59916" b="0"/>
          <a:stretch/>
        </p:blipFill>
        <p:spPr>
          <a:xfrm>
            <a:off x="8229600" y="2060640"/>
            <a:ext cx="3201480" cy="342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2360" cy="1750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TITLE PAGE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1160" cy="2074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331200" y="1371600"/>
            <a:ext cx="5922360" cy="46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ID-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SIH26018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Title- </a:t>
            </a:r>
            <a:r>
              <a:rPr lang="en-US" sz="2000" b="1" i="1" u="sng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Intelligent Land Record Digitization and Validation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Theme-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Smart Automation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PS Category-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ID-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Name-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PrithviX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1"/>
          <p:cNvPicPr/>
          <p:nvPr/>
        </p:nvPicPr>
        <p:blipFill>
          <a:blip r:embed="rId2"/>
          <a:stretch/>
        </p:blipFill>
        <p:spPr>
          <a:xfrm>
            <a:off x="9780120" y="1440"/>
            <a:ext cx="2247840" cy="106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8"/>
          <p:cNvSpPr/>
          <p:nvPr/>
        </p:nvSpPr>
        <p:spPr>
          <a:xfrm>
            <a:off x="0" y="6354720"/>
            <a:ext cx="12189960" cy="5011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-22824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36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Intelligent Land Record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Digitization and Validation System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24F3260-851C-4055-8082-09E56AE5B22E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Oval 9" descr="Your startup LOGO"/>
          <p:cNvSpPr/>
          <p:nvPr/>
        </p:nvSpPr>
        <p:spPr>
          <a:xfrm>
            <a:off x="329760" y="252360"/>
            <a:ext cx="1497240" cy="8053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7840" cy="106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/>
          <p:cNvPicPr/>
          <p:nvPr/>
        </p:nvPicPr>
        <p:blipFill>
          <a:blip r:embed="rId2"/>
          <a:srcRect l="0" t="0" r="0" b="6246"/>
          <a:stretch/>
        </p:blipFill>
        <p:spPr>
          <a:xfrm>
            <a:off x="1523160" y="1143000"/>
            <a:ext cx="4875840" cy="520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/>
          <p:cNvPicPr/>
          <p:nvPr/>
        </p:nvPicPr>
        <p:blipFill>
          <a:blip r:embed="rId3"/>
          <a:srcRect l="3745" t="58665" r="51452" b="11789"/>
          <a:stretch/>
        </p:blipFill>
        <p:spPr>
          <a:xfrm>
            <a:off x="7086960" y="1600200"/>
            <a:ext cx="4569840" cy="182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/>
          <p:cNvPicPr/>
          <p:nvPr/>
        </p:nvPicPr>
        <p:blipFill>
          <a:blip r:embed="rId4"/>
          <a:srcRect l="51105" t="56361" r="2945" b="10261"/>
          <a:stretch/>
        </p:blipFill>
        <p:spPr>
          <a:xfrm>
            <a:off x="7086600" y="3886200"/>
            <a:ext cx="4721400" cy="228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9"/>
          <p:cNvSpPr/>
          <p:nvPr/>
        </p:nvSpPr>
        <p:spPr>
          <a:xfrm>
            <a:off x="0" y="6354720"/>
            <a:ext cx="12189960" cy="5011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TECHNICAL APPROACH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BEEB636-2787-46E6-A984-0E5DEE2C4CBE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7840" cy="106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Oval 1" descr="Your startup LOGO"/>
          <p:cNvSpPr/>
          <p:nvPr/>
        </p:nvSpPr>
        <p:spPr>
          <a:xfrm>
            <a:off x="329760" y="252360"/>
            <a:ext cx="1497240" cy="8053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/>
          <p:cNvPicPr/>
          <p:nvPr/>
        </p:nvPicPr>
        <p:blipFill>
          <a:blip r:embed="rId2"/>
          <a:srcRect l="0" t="9999" r="0" b="6670"/>
          <a:stretch/>
        </p:blipFill>
        <p:spPr>
          <a:xfrm>
            <a:off x="457200" y="1194480"/>
            <a:ext cx="8958960" cy="497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/>
          <p:cNvPicPr/>
          <p:nvPr/>
        </p:nvPicPr>
        <p:blipFill>
          <a:blip r:embed="rId3"/>
          <a:srcRect l="21260" t="0" r="19116" b="3327"/>
          <a:stretch/>
        </p:blipFill>
        <p:spPr>
          <a:xfrm>
            <a:off x="9829800" y="1143000"/>
            <a:ext cx="2055600" cy="504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9"/>
          <p:cNvSpPr/>
          <p:nvPr/>
        </p:nvSpPr>
        <p:spPr>
          <a:xfrm>
            <a:off x="0" y="6354720"/>
            <a:ext cx="12189960" cy="5011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FEASIBILITY AND VIABILITY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7ABE6A-85AD-40C8-8127-C6B42D1DA293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1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7840" cy="106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Oval 2" descr="Your startup LOGO"/>
          <p:cNvSpPr/>
          <p:nvPr/>
        </p:nvSpPr>
        <p:spPr>
          <a:xfrm>
            <a:off x="329760" y="252360"/>
            <a:ext cx="1497240" cy="8053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57200" y="1600200"/>
            <a:ext cx="2970000" cy="41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Analysis of Feasibility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solution is technically feasible using established technologies such as OCR, AI/NLP, image processing, GIS, and centralized databases. Its modular pipeline allows document processing, extraction, classification, validation, and storage to be developed and tested independently.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886200" y="1600200"/>
            <a:ext cx="3884400" cy="46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Potential Challenges &amp; Risks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Legacy documents may be poor-quality, damaged, handwritten, multilingual, or inconsistently formatted, which can reduce extraction accuracy. Conflicting land information may also make automated validation difficult, while large-scale digitization can increase processing and human-review requirements.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001000" y="1600200"/>
            <a:ext cx="3884400" cy="55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Strategies for Overcoming Challenges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pre processing can improve OCR quality, while AI-based classification combined with rule-based and GIS validation can detect inconsistencies. Low-confidence records can be routed for human verification, and the modular architecture allows individual components to be improved or scaled without redesigning the entire system.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"/>
          <p:cNvSpPr/>
          <p:nvPr/>
        </p:nvSpPr>
        <p:spPr>
          <a:xfrm>
            <a:off x="0" y="6354720"/>
            <a:ext cx="12189960" cy="5011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IMPACT AND BENEFITS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2D47340-6315-4A13-8AFB-98E9091CF759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9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7840" cy="106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Oval 3" descr="Your startup LOGO"/>
          <p:cNvSpPr/>
          <p:nvPr/>
        </p:nvSpPr>
        <p:spPr>
          <a:xfrm>
            <a:off x="329760" y="107280"/>
            <a:ext cx="1497240" cy="8053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2"/>
          <a:srcRect l="0" t="0" r="0" b="4315"/>
          <a:stretch/>
        </p:blipFill>
        <p:spPr>
          <a:xfrm>
            <a:off x="914760" y="1063440"/>
            <a:ext cx="10284840" cy="52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9"/>
          <p:cNvSpPr/>
          <p:nvPr/>
        </p:nvSpPr>
        <p:spPr>
          <a:xfrm>
            <a:off x="0" y="6354720"/>
            <a:ext cx="12189960" cy="50112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0640" cy="114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RESEARCH  AND REFERENCES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25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FE4995B-5EA9-424C-B50C-B6B15E46EE7C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7840" cy="106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Oval 4" descr="Your startup LOGO"/>
          <p:cNvSpPr/>
          <p:nvPr/>
        </p:nvSpPr>
        <p:spPr>
          <a:xfrm>
            <a:off x="329760" y="252360"/>
            <a:ext cx="1497240" cy="80532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14760" y="1246320"/>
            <a:ext cx="10285200" cy="46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Digital India Land Records Modernization Programme (DILRMP)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dolr.gov.in/en/document-category/program-dilrmp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DILRMP MIS 4.0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   dilrmp.gov.in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DILRMP 3.0 Operational Guidelines (2026–2031)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cdnbbsr.s3waas.gov.in/s3d69116f8b0140cdeb1f99a4d5096ffe4/uploads/2026/08/20260827600317271.pdf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ULPIN / Bhu-Aadhaar Press relese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www.pib.gov.in/Pressreleaseshare.aspx?PRID=1932867&amp;lang=2&amp;reg=48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Paddle OCR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www.paddleocr.ai/main/en/index/index.html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CV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 github.com/opencv/opencv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7490</TotalTime>
  <Application>LibreOffice/26.2.6.1$Linux_X86_64 LibreOffice_project/620$Build-1</Application>
  <AppVersion>15.0000</AppVersion>
  <Words>325</Words>
  <Paragraphs>62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en-US</dc:language>
  <cp:lastModifiedBy/>
  <dcterms:modified xsi:type="dcterms:W3CDTF">2026-09-07T20:55:50Z</dcterms:modified>
  <cp:revision>154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
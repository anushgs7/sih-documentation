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5D2B51E-01D3-474C-9184-8BB8BF38B7D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360" cy="3426480"/>
          </a:xfrm>
          <a:prstGeom prst="rect">
            <a:avLst/>
          </a:prstGeom>
          <a:ln w="0">
            <a:noFill/>
          </a:ln>
        </p:spPr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280" cy="454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1A32863-5AE3-4690-8C7C-C14CED78CAF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360" cy="342648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280" cy="454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782DA1-E76B-4AC7-ADDD-25C14317F68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360" cy="342648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280" cy="454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4CF9631-F4B6-43F3-86A2-988E79EFFCA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360" cy="342648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280" cy="454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A72AC9F-D183-4E0D-8C04-147E9DDCD0C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360" cy="342648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280" cy="454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5932C1B-DE32-4B32-A9DA-DA440BC73C8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0800" cy="1359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Master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0800" cy="14976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Trade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8BDDC55-E756-4669-8936-179070AE562D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edi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Ma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sty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5382360" cy="45234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197760" y="1600200"/>
            <a:ext cx="5382360" cy="45234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2B8BE63-2A66-4909-9E7A-71F715026935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4520" cy="6372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4520" cy="39488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6680" cy="6372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6680" cy="39488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31F368A-775A-4B47-A40C-A6DE8E00D5A7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0464C0C-6F37-42F3-8E38-12C25122FEC7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86C6564-86FC-4B75-AD15-6A2F977DCF4C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8600" cy="1159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3000" cy="5850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8600" cy="4688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84F8503-DE5D-4A69-92E5-4103FBA67C4D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2680" cy="564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2680" cy="411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2680" cy="802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C9318C8-F551-42B1-8C97-5C4768D19DE6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14400" y="2130480"/>
            <a:ext cx="10360800" cy="1467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DFC2885-5FE5-449C-A94D-934D0F394245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09480" y="1095480"/>
            <a:ext cx="10970280" cy="50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11C2D92-51E3-4F11-995D-1DB48A6CDA88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839080" y="274680"/>
            <a:ext cx="2740680" cy="58489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09480" y="274680"/>
            <a:ext cx="8024040" cy="58489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0378161-0687-4B32-AE77-AA4435DAC58A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9480" y="1095480"/>
            <a:ext cx="10970280" cy="50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radeGothic"/>
                <a:ea typeface="ＭＳ Ｐゴシック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60948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4165560" y="6356520"/>
            <a:ext cx="385812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adeGothic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F12CAEC-B3C9-4D4D-A7E5-13FDA2B352A9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6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3880" y="0"/>
            <a:ext cx="9141480" cy="6855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Freeform: Shap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86600" y="914400"/>
            <a:ext cx="4636080" cy="5152320"/>
          </a:xfrm>
          <a:custGeom>
            <a:avLst/>
            <a:gdLst>
              <a:gd name="textAreaLeft" fmla="*/ 0 w 4636080"/>
              <a:gd name="textAreaRight" fmla="*/ 4638600 w 4636080"/>
              <a:gd name="textAreaTop" fmla="*/ 0 h 5152320"/>
              <a:gd name="textAreaBottom" fmla="*/ 5154840 h 5152320"/>
              <a:gd name="GluePoint1X" fmla="*/ 363179 w 6184806"/>
              <a:gd name="GluePoint1Y" fmla="*/ 3125191 h 5154967"/>
              <a:gd name="GluePoint2X" fmla="*/ 898270 w 6184806"/>
              <a:gd name="GluePoint2Y" fmla="*/ 3125191 h 5154967"/>
              <a:gd name="GluePoint3X" fmla="*/ 980326 w 6184806"/>
              <a:gd name="GluePoint3Y" fmla="*/ 3173551 h 5154967"/>
              <a:gd name="GluePoint4X" fmla="*/ 1248448 w 6184806"/>
              <a:gd name="GluePoint4Y" fmla="*/ 3635277 h 5154967"/>
              <a:gd name="GluePoint5X" fmla="*/ 1248448 w 6184806"/>
              <a:gd name="GluePoint5Y" fmla="*/ 3729695 h 5154967"/>
              <a:gd name="GluePoint6X" fmla="*/ 980326 w 6184806"/>
              <a:gd name="GluePoint6Y" fmla="*/ 4191421 h 5154967"/>
              <a:gd name="GluePoint7X" fmla="*/ 898270 w 6184806"/>
              <a:gd name="GluePoint7Y" fmla="*/ 4239781 h 5154967"/>
              <a:gd name="GluePoint8X" fmla="*/ 363179 w 6184806"/>
              <a:gd name="GluePoint8Y" fmla="*/ 4239781 h 5154967"/>
              <a:gd name="GluePoint9X" fmla="*/ 279969 w 6184806"/>
              <a:gd name="GluePoint9Y" fmla="*/ 4191421 h 5154967"/>
              <a:gd name="GluePoint10X" fmla="*/ 13002 w 6184806"/>
              <a:gd name="GluePoint10Y" fmla="*/ 3729695 h 5154967"/>
              <a:gd name="GluePoint11X" fmla="*/ 13002 w 6184806"/>
              <a:gd name="GluePoint11Y" fmla="*/ 3635277 h 5154967"/>
              <a:gd name="GluePoint12X" fmla="*/ 279969 w 6184806"/>
              <a:gd name="GluePoint12Y" fmla="*/ 3173551 h 5154967"/>
              <a:gd name="GluePoint13X" fmla="*/ 363179 w 6184806"/>
              <a:gd name="GluePoint13Y" fmla="*/ 3125191 h 5154967"/>
              <a:gd name="GluePoint14X" fmla="*/ 2489721 w 6184806"/>
              <a:gd name="GluePoint14Y" fmla="*/ 570035 h 5154967"/>
              <a:gd name="GluePoint15X" fmla="*/ 2764862 w 6184806"/>
              <a:gd name="GluePoint15Y" fmla="*/ 570035 h 5154967"/>
              <a:gd name="GluePoint16X" fmla="*/ 2796959 w 6184806"/>
              <a:gd name="GluePoint16Y" fmla="*/ 570035 h 5154967"/>
              <a:gd name="GluePoint17X" fmla="*/ 2827587 w 6184806"/>
              <a:gd name="GluePoint17Y" fmla="*/ 622777 h 5154967"/>
              <a:gd name="GluePoint18X" fmla="*/ 2977604 w 6184806"/>
              <a:gd name="GluePoint18Y" fmla="*/ 881117 h 5154967"/>
              <a:gd name="GluePoint19X" fmla="*/ 2977604 w 6184806"/>
              <a:gd name="GluePoint19Y" fmla="*/ 1025720 h 5154967"/>
              <a:gd name="GluePoint20X" fmla="*/ 2566968 w 6184806"/>
              <a:gd name="GluePoint20Y" fmla="*/ 1732863 h 5154967"/>
              <a:gd name="GluePoint21X" fmla="*/ 2441299 w 6184806"/>
              <a:gd name="GluePoint21Y" fmla="*/ 1806927 h 5154967"/>
              <a:gd name="GluePoint22X" fmla="*/ 1621798 w 6184806"/>
              <a:gd name="GluePoint22Y" fmla="*/ 1806927 h 5154967"/>
              <a:gd name="GluePoint23X" fmla="*/ 1583218 w 6184806"/>
              <a:gd name="GluePoint23Y" fmla="*/ 1801802 h 5154967"/>
              <a:gd name="GluePoint24X" fmla="*/ 1556683 w 6184806"/>
              <a:gd name="GluePoint24Y" fmla="*/ 1790677 h 5154967"/>
              <a:gd name="GluePoint25X" fmla="*/ 1572899 w 6184806"/>
              <a:gd name="GluePoint25Y" fmla="*/ 1762630 h 5154967"/>
              <a:gd name="GluePoint26X" fmla="*/ 2147429 w 6184806"/>
              <a:gd name="GluePoint26Y" fmla="*/ 768968 h 5154967"/>
              <a:gd name="GluePoint27X" fmla="*/ 2489721 w 6184806"/>
              <a:gd name="GluePoint27Y" fmla="*/ 570035 h 5154967"/>
              <a:gd name="GluePoint28X" fmla="*/ 1573268 w 6184806"/>
              <a:gd name="GluePoint28Y" fmla="*/ 0 h 5154967"/>
              <a:gd name="GluePoint29X" fmla="*/ 2497662 w 6184806"/>
              <a:gd name="GluePoint29Y" fmla="*/ 0 h 5154967"/>
              <a:gd name="GluePoint30X" fmla="*/ 2639415 w 6184806"/>
              <a:gd name="GluePoint30Y" fmla="*/ 83546 h 5154967"/>
              <a:gd name="GluePoint31X" fmla="*/ 2887862 w 6184806"/>
              <a:gd name="GluePoint31Y" fmla="*/ 511387 h 5154967"/>
              <a:gd name="GluePoint32X" fmla="*/ 2915928 w 6184806"/>
              <a:gd name="GluePoint32Y" fmla="*/ 559720 h 5154967"/>
              <a:gd name="GluePoint33X" fmla="*/ 2893844 w 6184806"/>
              <a:gd name="GluePoint33Y" fmla="*/ 559720 h 5154967"/>
              <a:gd name="GluePoint34X" fmla="*/ 2789466 w 6184806"/>
              <a:gd name="GluePoint34Y" fmla="*/ 559720 h 5154967"/>
              <a:gd name="GluePoint35X" fmla="*/ 2744122 w 6184806"/>
              <a:gd name="GluePoint35Y" fmla="*/ 481634 h 5154967"/>
              <a:gd name="GluePoint36X" fmla="*/ 2570885 w 6184806"/>
              <a:gd name="GluePoint36Y" fmla="*/ 183309 h 5154967"/>
              <a:gd name="GluePoint37X" fmla="*/ 2445216 w 6184806"/>
              <a:gd name="GluePoint37Y" fmla="*/ 109243 h 5154967"/>
              <a:gd name="GluePoint38X" fmla="*/ 1625714 w 6184806"/>
              <a:gd name="GluePoint38Y" fmla="*/ 109243 h 5154967"/>
              <a:gd name="GluePoint39X" fmla="*/ 1498276 w 6184806"/>
              <a:gd name="GluePoint39Y" fmla="*/ 183309 h 5154967"/>
              <a:gd name="GluePoint40X" fmla="*/ 1089410 w 6184806"/>
              <a:gd name="GluePoint40Y" fmla="*/ 890450 h 5154967"/>
              <a:gd name="GluePoint41X" fmla="*/ 1089410 w 6184806"/>
              <a:gd name="GluePoint41Y" fmla="*/ 1035054 h 5154967"/>
              <a:gd name="GluePoint42X" fmla="*/ 1498276 w 6184806"/>
              <a:gd name="GluePoint42Y" fmla="*/ 1742196 h 5154967"/>
              <a:gd name="GluePoint43X" fmla="*/ 1552039 w 6184806"/>
              <a:gd name="GluePoint43Y" fmla="*/ 1796422 h 5154967"/>
              <a:gd name="GluePoint44X" fmla="*/ 1558260 w 6184806"/>
              <a:gd name="GluePoint44Y" fmla="*/ 1799029 h 5154967"/>
              <a:gd name="GluePoint45X" fmla="*/ 1524911 w 6184806"/>
              <a:gd name="GluePoint45Y" fmla="*/ 1856707 h 5154967"/>
              <a:gd name="GluePoint46X" fmla="*/ 1500108 w 6184806"/>
              <a:gd name="GluePoint46Y" fmla="*/ 1899604 h 5154967"/>
              <a:gd name="GluePoint47X" fmla="*/ 1525834 w 6184806"/>
              <a:gd name="GluePoint47Y" fmla="*/ 1910390 h 5154967"/>
              <a:gd name="GluePoint48X" fmla="*/ 1569352 w 6184806"/>
              <a:gd name="GluePoint48Y" fmla="*/ 1916170 h 5154967"/>
              <a:gd name="GluePoint49X" fmla="*/ 2493745 w 6184806"/>
              <a:gd name="GluePoint49Y" fmla="*/ 1916170 h 5154967"/>
              <a:gd name="GluePoint50X" fmla="*/ 2635498 w 6184806"/>
              <a:gd name="GluePoint50Y" fmla="*/ 1832627 h 5154967"/>
              <a:gd name="GluePoint51X" fmla="*/ 3098693 w 6184806"/>
              <a:gd name="GluePoint51Y" fmla="*/ 1034974 h 5154967"/>
              <a:gd name="GluePoint52X" fmla="*/ 3098693 w 6184806"/>
              <a:gd name="GluePoint52Y" fmla="*/ 871863 h 5154967"/>
              <a:gd name="GluePoint53X" fmla="*/ 2945803 w 6184806"/>
              <a:gd name="GluePoint53Y" fmla="*/ 608576 h 5154967"/>
              <a:gd name="GluePoint54X" fmla="*/ 2923422 w 6184806"/>
              <a:gd name="GluePoint54Y" fmla="*/ 570035 h 5154967"/>
              <a:gd name="GluePoint55X" fmla="*/ 3027104 w 6184806"/>
              <a:gd name="GluePoint55Y" fmla="*/ 570035 h 5154967"/>
              <a:gd name="GluePoint56X" fmla="*/ 4690846 w 6184806"/>
              <a:gd name="GluePoint56Y" fmla="*/ 570035 h 5154967"/>
              <a:gd name="GluePoint57X" fmla="*/ 5028384 w 6184806"/>
              <a:gd name="GluePoint57Y" fmla="*/ 768968 h 5154967"/>
              <a:gd name="GluePoint58X" fmla="*/ 6131323 w 6184806"/>
              <a:gd name="GluePoint58Y" fmla="*/ 2668304 h 5154967"/>
              <a:gd name="GluePoint59X" fmla="*/ 6131323 w 6184806"/>
              <a:gd name="GluePoint59Y" fmla="*/ 3056698 h 5154967"/>
              <a:gd name="GluePoint60X" fmla="*/ 5028384 w 6184806"/>
              <a:gd name="GluePoint60Y" fmla="*/ 4956035 h 5154967"/>
              <a:gd name="GluePoint61X" fmla="*/ 4690846 w 6184806"/>
              <a:gd name="GluePoint61Y" fmla="*/ 5154967 h 5154967"/>
              <a:gd name="GluePoint62X" fmla="*/ 2489721 w 6184806"/>
              <a:gd name="GluePoint62Y" fmla="*/ 5154967 h 5154967"/>
              <a:gd name="GluePoint63X" fmla="*/ 2147429 w 6184806"/>
              <a:gd name="GluePoint63Y" fmla="*/ 4956035 h 5154967"/>
              <a:gd name="GluePoint64X" fmla="*/ 1049243 w 6184806"/>
              <a:gd name="GluePoint64Y" fmla="*/ 3056698 h 5154967"/>
              <a:gd name="GluePoint65X" fmla="*/ 1049243 w 6184806"/>
              <a:gd name="GluePoint65Y" fmla="*/ 2668304 h 5154967"/>
              <a:gd name="GluePoint66X" fmla="*/ 1457007 w 6184806"/>
              <a:gd name="GluePoint66Y" fmla="*/ 1963067 h 5154967"/>
              <a:gd name="GluePoint67X" fmla="*/ 1491373 w 6184806"/>
              <a:gd name="GluePoint67Y" fmla="*/ 1903634 h 5154967"/>
              <a:gd name="GluePoint68X" fmla="*/ 1490164 w 6184806"/>
              <a:gd name="GluePoint68Y" fmla="*/ 1903127 h 5154967"/>
              <a:gd name="GluePoint69X" fmla="*/ 1429519 w 6184806"/>
              <a:gd name="GluePoint69Y" fmla="*/ 1841960 h 5154967"/>
              <a:gd name="GluePoint70X" fmla="*/ 968320 w 6184806"/>
              <a:gd name="GluePoint70Y" fmla="*/ 1044307 h 5154967"/>
              <a:gd name="GluePoint71X" fmla="*/ 968320 w 6184806"/>
              <a:gd name="GluePoint71Y" fmla="*/ 881196 h 5154967"/>
              <a:gd name="GluePoint72X" fmla="*/ 1429519 w 6184806"/>
              <a:gd name="GluePoint72Y" fmla="*/ 83546 h 5154967"/>
              <a:gd name="GluePoint73X" fmla="*/ 1573268 w 6184806"/>
              <a:gd name="GluePoint73Y" fmla="*/ 0 h 51549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</a:cxnLst>
            <a:rect l="textAreaLeft" t="textAreaTop" r="textAreaRight" b="textAreaBottom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dk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8" name="Picture 4"/>
          <p:cNvPicPr/>
          <p:nvPr/>
        </p:nvPicPr>
        <p:blipFill>
          <a:blip r:embed="rId1"/>
          <a:srcRect l="0" t="0" r="59916" b="0"/>
          <a:stretch/>
        </p:blipFill>
        <p:spPr>
          <a:xfrm>
            <a:off x="8229600" y="2060640"/>
            <a:ext cx="3201120" cy="342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subTitle"/>
          </p:nvPr>
        </p:nvSpPr>
        <p:spPr>
          <a:xfrm>
            <a:off x="1245600" y="648720"/>
            <a:ext cx="8532000" cy="1749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TITLE PAGE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331200" y="-526680"/>
            <a:ext cx="10360800" cy="207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chemeClr val="dk2"/>
                </a:solidFill>
                <a:effectLst/>
                <a:uFillTx/>
                <a:latin typeface="Garamond"/>
                <a:ea typeface="ＭＳ Ｐゴシック"/>
              </a:rPr>
              <a:t>SMART INDIA HACKATHON 2026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71" name="TextBox 9"/>
          <p:cNvSpPr/>
          <p:nvPr/>
        </p:nvSpPr>
        <p:spPr>
          <a:xfrm>
            <a:off x="331200" y="1371600"/>
            <a:ext cx="5922000" cy="46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Prob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lem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Stat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eme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nt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ID-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SIH2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6018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Prob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lem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Stat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eme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nt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Title- 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Intel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lige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nt 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Lan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d 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Rec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ord 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Digit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izati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on 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and 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Vali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dati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on 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Syst</a:t>
            </a:r>
            <a:r>
              <a:rPr lang="en-US" sz="2000" b="1" i="1" u="sng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The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me-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Sma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rt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Auto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mati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PS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Cate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gory-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Soft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ware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Tea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m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ID-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457200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Tea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m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Nam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e-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Prith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ＭＳ Ｐゴシック"/>
              </a:rPr>
              <a:t>viX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Picture 1"/>
          <p:cNvPicPr/>
          <p:nvPr/>
        </p:nvPicPr>
        <p:blipFill>
          <a:blip r:embed="rId2"/>
          <a:stretch/>
        </p:blipFill>
        <p:spPr>
          <a:xfrm>
            <a:off x="9780120" y="1440"/>
            <a:ext cx="2247480" cy="105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8"/>
          <p:cNvSpPr/>
          <p:nvPr/>
        </p:nvSpPr>
        <p:spPr>
          <a:xfrm>
            <a:off x="0" y="6354720"/>
            <a:ext cx="12189600" cy="5007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accent2">
                  <a:lumMod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9720" y="-45720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br>
              <a:rPr sz="3600"/>
            </a:b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Intelligent Land Record </a:t>
            </a:r>
            <a:br>
              <a:rPr sz="3000"/>
            </a:b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Digitization and Validation System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37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26FDBF5-4DFF-479E-BFD3-FFDB3E79151C}" type="slidenum">
              <a: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Oval 9" descr="Your startup LOGO"/>
          <p:cNvSpPr/>
          <p:nvPr/>
        </p:nvSpPr>
        <p:spPr>
          <a:xfrm>
            <a:off x="329760" y="109440"/>
            <a:ext cx="1496880" cy="8049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PrithviX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10"/>
          <p:cNvPicPr/>
          <p:nvPr/>
        </p:nvPicPr>
        <p:blipFill>
          <a:blip r:embed="rId1"/>
          <a:stretch/>
        </p:blipFill>
        <p:spPr>
          <a:xfrm>
            <a:off x="9780120" y="1440"/>
            <a:ext cx="2247480" cy="1059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"/>
          <p:cNvPicPr/>
          <p:nvPr/>
        </p:nvPicPr>
        <p:blipFill>
          <a:blip r:embed="rId2"/>
          <a:stretch/>
        </p:blipFill>
        <p:spPr>
          <a:xfrm>
            <a:off x="228600" y="1061280"/>
            <a:ext cx="11813400" cy="525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9"/>
          <p:cNvSpPr/>
          <p:nvPr/>
        </p:nvSpPr>
        <p:spPr>
          <a:xfrm>
            <a:off x="0" y="6354720"/>
            <a:ext cx="12189600" cy="5007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accent2">
                  <a:lumMod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-22608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TECHNICAL APPROACH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38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8F246D5-2EE4-4670-822D-09FC649A9651}" type="slidenum">
              <a:rPr lang="en-US" sz="1200" b="1" u="none" strike="noStrike">
                <a:solidFill>
                  <a:schemeClr val="lt1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2" name="Picture 11"/>
          <p:cNvPicPr/>
          <p:nvPr/>
        </p:nvPicPr>
        <p:blipFill>
          <a:blip r:embed="rId1"/>
          <a:stretch/>
        </p:blipFill>
        <p:spPr>
          <a:xfrm>
            <a:off x="9780120" y="1440"/>
            <a:ext cx="2247480" cy="10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Oval 1" descr="Your startup LOGO"/>
          <p:cNvSpPr/>
          <p:nvPr/>
        </p:nvSpPr>
        <p:spPr>
          <a:xfrm>
            <a:off x="329760" y="109440"/>
            <a:ext cx="1496880" cy="8049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PrithviX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2"/>
          <a:srcRect l="21256" t="0" r="19116" b="3327"/>
          <a:stretch/>
        </p:blipFill>
        <p:spPr>
          <a:xfrm>
            <a:off x="10058400" y="1143000"/>
            <a:ext cx="2055240" cy="504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3"/>
          <a:srcRect l="0" t="-1297" r="-545" b="5495"/>
          <a:stretch/>
        </p:blipFill>
        <p:spPr>
          <a:xfrm>
            <a:off x="0" y="914400"/>
            <a:ext cx="10048680" cy="544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9"/>
          <p:cNvSpPr/>
          <p:nvPr/>
        </p:nvSpPr>
        <p:spPr>
          <a:xfrm>
            <a:off x="0" y="6354720"/>
            <a:ext cx="12189600" cy="5007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88320" y="-8316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FEASIBILITY AND VIABILITY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39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1C7BF20-437A-4D93-8C9D-7C0CFEE67B56}" type="slidenum"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9" name="Picture 10"/>
          <p:cNvPicPr/>
          <p:nvPr/>
        </p:nvPicPr>
        <p:blipFill>
          <a:blip r:embed="rId1"/>
          <a:stretch/>
        </p:blipFill>
        <p:spPr>
          <a:xfrm>
            <a:off x="9780120" y="1440"/>
            <a:ext cx="2247480" cy="10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Oval 2" descr="Your startup LOGO"/>
          <p:cNvSpPr/>
          <p:nvPr/>
        </p:nvSpPr>
        <p:spPr>
          <a:xfrm>
            <a:off x="329760" y="252360"/>
            <a:ext cx="1496880" cy="8049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PrithviX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28600" y="1057320"/>
            <a:ext cx="3886200" cy="51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Analysis of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The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proposed system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 uses mature technologies for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OCR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, document pre processing,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NLP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,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GIS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and database management. Its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modular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micro service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architecture allows ingestion, extraction, classification, validation and storage to be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independently developed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tested and scaled. 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Existing government land-record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initiatives such as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DILRMP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provide a practical ecosystem for future integration.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343400" y="1057320"/>
            <a:ext cx="3429000" cy="49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</a:t>
            </a: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Challenges &amp; </a:t>
            </a: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Legacy documents may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poor-quality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and 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damaged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handwritten,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multilingual, or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inconsistently -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formatted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which can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 extraction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Conflicting land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information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may also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automated -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difficult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while large-scale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digitization can increase 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and human-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requirements.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8001000" y="1061280"/>
            <a:ext cx="3886200" cy="490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Strategies for Overcoming Challenges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 pre processing can improve OCR quality, while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AI-based classification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combined with rule based and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GIS validation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can detect inconsistencies. Low confidence records can be routed for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verification.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19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modular micro-service architecture</a:t>
            </a:r>
            <a:r>
              <a:rPr lang="en-US" sz="1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allows individual components to be improved or scaled without redesigning the entire system.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9"/>
          <p:cNvSpPr/>
          <p:nvPr/>
        </p:nvSpPr>
        <p:spPr>
          <a:xfrm>
            <a:off x="0" y="6354720"/>
            <a:ext cx="12189600" cy="5007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09480" y="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IMPACT AND BENEFITS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ldNum" idx="40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3D72B15-64C7-4102-BEB4-B3EF4AEED578}" type="slidenum"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7" name="Picture 10"/>
          <p:cNvPicPr/>
          <p:nvPr/>
        </p:nvPicPr>
        <p:blipFill>
          <a:blip r:embed="rId1"/>
          <a:stretch/>
        </p:blipFill>
        <p:spPr>
          <a:xfrm>
            <a:off x="9780120" y="1440"/>
            <a:ext cx="2247480" cy="10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Oval 3" descr="Your startup LOGO"/>
          <p:cNvSpPr/>
          <p:nvPr/>
        </p:nvSpPr>
        <p:spPr>
          <a:xfrm>
            <a:off x="329760" y="107280"/>
            <a:ext cx="1496880" cy="8049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PrithviX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2"/>
          <a:srcRect l="0" t="0" r="50000" b="0"/>
          <a:stretch/>
        </p:blipFill>
        <p:spPr>
          <a:xfrm>
            <a:off x="914400" y="1143000"/>
            <a:ext cx="5257440" cy="521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"/>
          <p:cNvPicPr/>
          <p:nvPr/>
        </p:nvPicPr>
        <p:blipFill>
          <a:blip r:embed="rId3"/>
          <a:srcRect l="51056" t="0" r="0" b="0"/>
          <a:stretch/>
        </p:blipFill>
        <p:spPr>
          <a:xfrm>
            <a:off x="6629400" y="1143000"/>
            <a:ext cx="5178960" cy="5176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9"/>
          <p:cNvSpPr/>
          <p:nvPr/>
        </p:nvSpPr>
        <p:spPr>
          <a:xfrm>
            <a:off x="0" y="6354720"/>
            <a:ext cx="12189600" cy="5007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953735"/>
              </a:solidFill>
              <a:effectLst/>
              <a:uFillTx/>
              <a:latin typeface="Calibri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0280" cy="1140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ＭＳ Ｐゴシック"/>
              </a:rPr>
              <a:t>RESEARCH  AND REFERENCES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ade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41"/>
          </p:nvPr>
        </p:nvSpPr>
        <p:spPr>
          <a:xfrm>
            <a:off x="8737560" y="6356520"/>
            <a:ext cx="2842200" cy="362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FD60E76-D235-4358-8303-8A592E480E68}" type="slidenum"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TradeGothic"/>
                <a:ea typeface="ＭＳ Ｐゴシック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4" name="Picture 11"/>
          <p:cNvPicPr/>
          <p:nvPr/>
        </p:nvPicPr>
        <p:blipFill>
          <a:blip r:embed="rId1"/>
          <a:stretch/>
        </p:blipFill>
        <p:spPr>
          <a:xfrm>
            <a:off x="9780120" y="1440"/>
            <a:ext cx="2247480" cy="10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Oval 4" descr="Your startup LOGO"/>
          <p:cNvSpPr/>
          <p:nvPr/>
        </p:nvSpPr>
        <p:spPr>
          <a:xfrm>
            <a:off x="329760" y="252360"/>
            <a:ext cx="1496880" cy="8049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P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i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h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v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i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ＭＳ Ｐゴシック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914760" y="1246320"/>
            <a:ext cx="1028484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Digita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 India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Land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rnizat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ion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amme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(DILR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MP)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dolr.g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ov.in/e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n/doc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ument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categ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ory/pr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ogram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dilrmp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DILR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MP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4.0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dilrmp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.gov.in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DILR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MP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tional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Guide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lines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–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2031)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cdnbb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sr.s3w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aas.g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ov.in/s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3d691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16f8b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0140c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deb1f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99a4d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5096ff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e4/upl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oads/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08/20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26082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76003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17271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.pdf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ULPI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/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Bhu-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Aadh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aar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relese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www.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pib.go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v.in/Pr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essrel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eases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hare.a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spx?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=1932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867&amp;l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ang=2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&amp;reg=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Paddl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OCR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www.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paddl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eocr.a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i/main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/en/in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dex/in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dex.ht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CV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.com/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openc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v/ope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ncv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7493</TotalTime>
  <Application>LibreOffice/26.2.6.1$Linux_X86_64 LibreOffice_project/620$Build-1</Application>
  <AppVersion>15.0000</AppVersion>
  <Words>325</Words>
  <Paragraphs>62</Paragraphs>
  <Company>Crowdfunder, Inc.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  <dc:description/>
  <dc:language>en-US</dc:language>
  <cp:lastModifiedBy/>
  <cp:lastPrinted>2026-09-10T19:51:13Z</cp:lastPrinted>
  <dcterms:modified xsi:type="dcterms:W3CDTF">2026-09-10T19:54:47Z</dcterms:modified>
  <cp:revision>155</cp:revision>
  <dc:subject/>
  <dc:title>Investor Pitch Deck Template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
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1E23A93-FF18-4AFB-8970-E63907BCE60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3D15923-9920-43A4-8F2C-06386DFA6A2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B906EA6-F1D2-4C7B-90F8-819E7956343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2A20C89-BBF4-4C1D-BD02-8C5C1FD6425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FFC52C7-88DC-4C25-B349-A8A47ED8B03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D612774-B967-4CAF-8733-731E68AB796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68C6C88-5BC0-41F8-B4D2-AF85DB456DD6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400" cy="11613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4800" cy="5852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400" cy="46904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675FA19-6190-421B-BD5C-073646C2DB0B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480" cy="565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4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480" cy="804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E9C080D-DD99-4689-87A8-DC023C274963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600" cy="1469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80D07EC-129A-4CF8-B26F-6EC834E08772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8EFACA7-6FA8-4A09-B4C1-1A12B73F7CF9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839080" y="274680"/>
            <a:ext cx="2742480" cy="585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274680"/>
            <a:ext cx="8025840" cy="585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F36C4BD-FCCB-48B1-86AC-CD266920F89C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C3CA384-F461-4C72-976F-7CED6D12F096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600" cy="13615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600" cy="14994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TradeGothic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4D3788C-EA25-4BB7-866F-A8002006B22E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160" cy="45252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160" cy="45252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022F457-837C-4833-8195-0BEABA9F3490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320" cy="639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320" cy="3950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480" cy="6390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480" cy="39506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8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13582DE-B8AB-43ED-A5EB-1C0CCDA5DADB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D6FA2F7-15A0-42E2-876F-7E35CC4CC64F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3880" y="0"/>
            <a:ext cx="914328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Freeform: Shap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86600" y="914400"/>
            <a:ext cx="4637880" cy="5154120"/>
          </a:xfrm>
          <a:custGeom>
            <a:avLst/>
            <a:gdLst>
              <a:gd name="textAreaLeft" fmla="*/ 0 w 4637880"/>
              <a:gd name="textAreaRight" fmla="*/ 4638600 w 4637880"/>
              <a:gd name="textAreaTop" fmla="*/ 0 h 5154120"/>
              <a:gd name="textAreaBottom" fmla="*/ 5154840 h 5154120"/>
              <a:gd name="GluePoint1X" fmla="*/ 363179 w 6184806"/>
              <a:gd name="GluePoint1Y" fmla="*/ 3125191 h 5154967"/>
              <a:gd name="GluePoint2X" fmla="*/ 898270 w 6184806"/>
              <a:gd name="GluePoint2Y" fmla="*/ 3125191 h 5154967"/>
              <a:gd name="GluePoint3X" fmla="*/ 980326 w 6184806"/>
              <a:gd name="GluePoint3Y" fmla="*/ 3173551 h 5154967"/>
              <a:gd name="GluePoint4X" fmla="*/ 1248448 w 6184806"/>
              <a:gd name="GluePoint4Y" fmla="*/ 3635277 h 5154967"/>
              <a:gd name="GluePoint5X" fmla="*/ 1248448 w 6184806"/>
              <a:gd name="GluePoint5Y" fmla="*/ 3729695 h 5154967"/>
              <a:gd name="GluePoint6X" fmla="*/ 980326 w 6184806"/>
              <a:gd name="GluePoint6Y" fmla="*/ 4191421 h 5154967"/>
              <a:gd name="GluePoint7X" fmla="*/ 898270 w 6184806"/>
              <a:gd name="GluePoint7Y" fmla="*/ 4239781 h 5154967"/>
              <a:gd name="GluePoint8X" fmla="*/ 363179 w 6184806"/>
              <a:gd name="GluePoint8Y" fmla="*/ 4239781 h 5154967"/>
              <a:gd name="GluePoint9X" fmla="*/ 279969 w 6184806"/>
              <a:gd name="GluePoint9Y" fmla="*/ 4191421 h 5154967"/>
              <a:gd name="GluePoint10X" fmla="*/ 13002 w 6184806"/>
              <a:gd name="GluePoint10Y" fmla="*/ 3729695 h 5154967"/>
              <a:gd name="GluePoint11X" fmla="*/ 13002 w 6184806"/>
              <a:gd name="GluePoint11Y" fmla="*/ 3635277 h 5154967"/>
              <a:gd name="GluePoint12X" fmla="*/ 279969 w 6184806"/>
              <a:gd name="GluePoint12Y" fmla="*/ 3173551 h 5154967"/>
              <a:gd name="GluePoint13X" fmla="*/ 363179 w 6184806"/>
              <a:gd name="GluePoint13Y" fmla="*/ 3125191 h 5154967"/>
              <a:gd name="GluePoint14X" fmla="*/ 2489721 w 6184806"/>
              <a:gd name="GluePoint14Y" fmla="*/ 570035 h 5154967"/>
              <a:gd name="GluePoint15X" fmla="*/ 2764862 w 6184806"/>
              <a:gd name="GluePoint15Y" fmla="*/ 570035 h 5154967"/>
              <a:gd name="GluePoint16X" fmla="*/ 2796959 w 6184806"/>
              <a:gd name="GluePoint16Y" fmla="*/ 570035 h 5154967"/>
              <a:gd name="GluePoint17X" fmla="*/ 2827587 w 6184806"/>
              <a:gd name="GluePoint17Y" fmla="*/ 622777 h 5154967"/>
              <a:gd name="GluePoint18X" fmla="*/ 2977604 w 6184806"/>
              <a:gd name="GluePoint18Y" fmla="*/ 881117 h 5154967"/>
              <a:gd name="GluePoint19X" fmla="*/ 2977604 w 6184806"/>
              <a:gd name="GluePoint19Y" fmla="*/ 1025720 h 5154967"/>
              <a:gd name="GluePoint20X" fmla="*/ 2566968 w 6184806"/>
              <a:gd name="GluePoint20Y" fmla="*/ 1732863 h 5154967"/>
              <a:gd name="GluePoint21X" fmla="*/ 2441299 w 6184806"/>
              <a:gd name="GluePoint21Y" fmla="*/ 1806927 h 5154967"/>
              <a:gd name="GluePoint22X" fmla="*/ 1621798 w 6184806"/>
              <a:gd name="GluePoint22Y" fmla="*/ 1806927 h 5154967"/>
              <a:gd name="GluePoint23X" fmla="*/ 1583218 w 6184806"/>
              <a:gd name="GluePoint23Y" fmla="*/ 1801802 h 5154967"/>
              <a:gd name="GluePoint24X" fmla="*/ 1556683 w 6184806"/>
              <a:gd name="GluePoint24Y" fmla="*/ 1790677 h 5154967"/>
              <a:gd name="GluePoint25X" fmla="*/ 1572899 w 6184806"/>
              <a:gd name="GluePoint25Y" fmla="*/ 1762630 h 5154967"/>
              <a:gd name="GluePoint26X" fmla="*/ 2147429 w 6184806"/>
              <a:gd name="GluePoint26Y" fmla="*/ 768968 h 5154967"/>
              <a:gd name="GluePoint27X" fmla="*/ 2489721 w 6184806"/>
              <a:gd name="GluePoint27Y" fmla="*/ 570035 h 5154967"/>
              <a:gd name="GluePoint28X" fmla="*/ 1573268 w 6184806"/>
              <a:gd name="GluePoint28Y" fmla="*/ 0 h 5154967"/>
              <a:gd name="GluePoint29X" fmla="*/ 2497662 w 6184806"/>
              <a:gd name="GluePoint29Y" fmla="*/ 0 h 5154967"/>
              <a:gd name="GluePoint30X" fmla="*/ 2639415 w 6184806"/>
              <a:gd name="GluePoint30Y" fmla="*/ 83546 h 5154967"/>
              <a:gd name="GluePoint31X" fmla="*/ 2887862 w 6184806"/>
              <a:gd name="GluePoint31Y" fmla="*/ 511387 h 5154967"/>
              <a:gd name="GluePoint32X" fmla="*/ 2915928 w 6184806"/>
              <a:gd name="GluePoint32Y" fmla="*/ 559720 h 5154967"/>
              <a:gd name="GluePoint33X" fmla="*/ 2893844 w 6184806"/>
              <a:gd name="GluePoint33Y" fmla="*/ 559720 h 5154967"/>
              <a:gd name="GluePoint34X" fmla="*/ 2789466 w 6184806"/>
              <a:gd name="GluePoint34Y" fmla="*/ 559720 h 5154967"/>
              <a:gd name="GluePoint35X" fmla="*/ 2744122 w 6184806"/>
              <a:gd name="GluePoint35Y" fmla="*/ 481634 h 5154967"/>
              <a:gd name="GluePoint36X" fmla="*/ 2570885 w 6184806"/>
              <a:gd name="GluePoint36Y" fmla="*/ 183309 h 5154967"/>
              <a:gd name="GluePoint37X" fmla="*/ 2445216 w 6184806"/>
              <a:gd name="GluePoint37Y" fmla="*/ 109243 h 5154967"/>
              <a:gd name="GluePoint38X" fmla="*/ 1625714 w 6184806"/>
              <a:gd name="GluePoint38Y" fmla="*/ 109243 h 5154967"/>
              <a:gd name="GluePoint39X" fmla="*/ 1498276 w 6184806"/>
              <a:gd name="GluePoint39Y" fmla="*/ 183309 h 5154967"/>
              <a:gd name="GluePoint40X" fmla="*/ 1089410 w 6184806"/>
              <a:gd name="GluePoint40Y" fmla="*/ 890450 h 5154967"/>
              <a:gd name="GluePoint41X" fmla="*/ 1089410 w 6184806"/>
              <a:gd name="GluePoint41Y" fmla="*/ 1035054 h 5154967"/>
              <a:gd name="GluePoint42X" fmla="*/ 1498276 w 6184806"/>
              <a:gd name="GluePoint42Y" fmla="*/ 1742196 h 5154967"/>
              <a:gd name="GluePoint43X" fmla="*/ 1552039 w 6184806"/>
              <a:gd name="GluePoint43Y" fmla="*/ 1796422 h 5154967"/>
              <a:gd name="GluePoint44X" fmla="*/ 1558260 w 6184806"/>
              <a:gd name="GluePoint44Y" fmla="*/ 1799029 h 5154967"/>
              <a:gd name="GluePoint45X" fmla="*/ 1524911 w 6184806"/>
              <a:gd name="GluePoint45Y" fmla="*/ 1856707 h 5154967"/>
              <a:gd name="GluePoint46X" fmla="*/ 1500108 w 6184806"/>
              <a:gd name="GluePoint46Y" fmla="*/ 1899604 h 5154967"/>
              <a:gd name="GluePoint47X" fmla="*/ 1525834 w 6184806"/>
              <a:gd name="GluePoint47Y" fmla="*/ 1910390 h 5154967"/>
              <a:gd name="GluePoint48X" fmla="*/ 1569352 w 6184806"/>
              <a:gd name="GluePoint48Y" fmla="*/ 1916170 h 5154967"/>
              <a:gd name="GluePoint49X" fmla="*/ 2493745 w 6184806"/>
              <a:gd name="GluePoint49Y" fmla="*/ 1916170 h 5154967"/>
              <a:gd name="GluePoint50X" fmla="*/ 2635498 w 6184806"/>
              <a:gd name="GluePoint50Y" fmla="*/ 1832627 h 5154967"/>
              <a:gd name="GluePoint51X" fmla="*/ 3098693 w 6184806"/>
              <a:gd name="GluePoint51Y" fmla="*/ 1034974 h 5154967"/>
              <a:gd name="GluePoint52X" fmla="*/ 3098693 w 6184806"/>
              <a:gd name="GluePoint52Y" fmla="*/ 871863 h 5154967"/>
              <a:gd name="GluePoint53X" fmla="*/ 2945803 w 6184806"/>
              <a:gd name="GluePoint53Y" fmla="*/ 608576 h 5154967"/>
              <a:gd name="GluePoint54X" fmla="*/ 2923422 w 6184806"/>
              <a:gd name="GluePoint54Y" fmla="*/ 570035 h 5154967"/>
              <a:gd name="GluePoint55X" fmla="*/ 3027104 w 6184806"/>
              <a:gd name="GluePoint55Y" fmla="*/ 570035 h 5154967"/>
              <a:gd name="GluePoint56X" fmla="*/ 4690846 w 6184806"/>
              <a:gd name="GluePoint56Y" fmla="*/ 570035 h 5154967"/>
              <a:gd name="GluePoint57X" fmla="*/ 5028384 w 6184806"/>
              <a:gd name="GluePoint57Y" fmla="*/ 768968 h 5154967"/>
              <a:gd name="GluePoint58X" fmla="*/ 6131323 w 6184806"/>
              <a:gd name="GluePoint58Y" fmla="*/ 2668304 h 5154967"/>
              <a:gd name="GluePoint59X" fmla="*/ 6131323 w 6184806"/>
              <a:gd name="GluePoint59Y" fmla="*/ 3056698 h 5154967"/>
              <a:gd name="GluePoint60X" fmla="*/ 5028384 w 6184806"/>
              <a:gd name="GluePoint60Y" fmla="*/ 4956035 h 5154967"/>
              <a:gd name="GluePoint61X" fmla="*/ 4690846 w 6184806"/>
              <a:gd name="GluePoint61Y" fmla="*/ 5154967 h 5154967"/>
              <a:gd name="GluePoint62X" fmla="*/ 2489721 w 6184806"/>
              <a:gd name="GluePoint62Y" fmla="*/ 5154967 h 5154967"/>
              <a:gd name="GluePoint63X" fmla="*/ 2147429 w 6184806"/>
              <a:gd name="GluePoint63Y" fmla="*/ 4956035 h 5154967"/>
              <a:gd name="GluePoint64X" fmla="*/ 1049243 w 6184806"/>
              <a:gd name="GluePoint64Y" fmla="*/ 3056698 h 5154967"/>
              <a:gd name="GluePoint65X" fmla="*/ 1049243 w 6184806"/>
              <a:gd name="GluePoint65Y" fmla="*/ 2668304 h 5154967"/>
              <a:gd name="GluePoint66X" fmla="*/ 1457007 w 6184806"/>
              <a:gd name="GluePoint66Y" fmla="*/ 1963067 h 5154967"/>
              <a:gd name="GluePoint67X" fmla="*/ 1491373 w 6184806"/>
              <a:gd name="GluePoint67Y" fmla="*/ 1903634 h 5154967"/>
              <a:gd name="GluePoint68X" fmla="*/ 1490164 w 6184806"/>
              <a:gd name="GluePoint68Y" fmla="*/ 1903127 h 5154967"/>
              <a:gd name="GluePoint69X" fmla="*/ 1429519 w 6184806"/>
              <a:gd name="GluePoint69Y" fmla="*/ 1841960 h 5154967"/>
              <a:gd name="GluePoint70X" fmla="*/ 968320 w 6184806"/>
              <a:gd name="GluePoint70Y" fmla="*/ 1044307 h 5154967"/>
              <a:gd name="GluePoint71X" fmla="*/ 968320 w 6184806"/>
              <a:gd name="GluePoint71Y" fmla="*/ 881196 h 5154967"/>
              <a:gd name="GluePoint72X" fmla="*/ 1429519 w 6184806"/>
              <a:gd name="GluePoint72Y" fmla="*/ 83546 h 5154967"/>
              <a:gd name="GluePoint73X" fmla="*/ 1573268 w 6184806"/>
              <a:gd name="GluePoint73Y" fmla="*/ 0 h 51549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</a:cxnLst>
            <a:rect l="textAreaLeft" t="textAreaTop" r="textAreaRight" b="textAreaBottom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dk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8" name="Picture 4"/>
          <p:cNvPicPr/>
          <p:nvPr/>
        </p:nvPicPr>
        <p:blipFill>
          <a:blip r:embed="rId1"/>
          <a:srcRect l="0" t="0" r="59916" b="0"/>
          <a:stretch/>
        </p:blipFill>
        <p:spPr>
          <a:xfrm>
            <a:off x="8229600" y="2060640"/>
            <a:ext cx="3202920" cy="342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PlaceHolder 1"/>
          <p:cNvSpPr>
            <a:spLocks noGrp="1"/>
          </p:cNvSpPr>
          <p:nvPr>
            <p:ph type="subTitle"/>
          </p:nvPr>
        </p:nvSpPr>
        <p:spPr>
          <a:xfrm>
            <a:off x="1245600" y="648720"/>
            <a:ext cx="8533800" cy="1751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TITLE PAGE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title"/>
          </p:nvPr>
        </p:nvSpPr>
        <p:spPr>
          <a:xfrm>
            <a:off x="331200" y="-526680"/>
            <a:ext cx="10362600" cy="20757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2"/>
                </a:solidFill>
                <a:effectLst/>
                <a:uFillTx/>
                <a:latin typeface="Garamond"/>
                <a:ea typeface="ＭＳ Ｐゴシック"/>
              </a:rPr>
              <a:t>SMART INDIA HACKATHON 2026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71" name="TextBox 9"/>
          <p:cNvSpPr/>
          <p:nvPr/>
        </p:nvSpPr>
        <p:spPr>
          <a:xfrm>
            <a:off x="331200" y="1371600"/>
            <a:ext cx="5923800" cy="527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Problem Statement ID-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SIH26018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Problem Statement Title-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1" i="1" u="sng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Intelligent Land Record Digitization and Validation 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Theme-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Smart Automation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PS Category-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Software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Team ID-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Team Name-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 PrithviX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Picture 1"/>
          <p:cNvPicPr/>
          <p:nvPr/>
        </p:nvPicPr>
        <p:blipFill>
          <a:blip r:embed="rId2"/>
          <a:stretch/>
        </p:blipFill>
        <p:spPr>
          <a:xfrm>
            <a:off x="9780120" y="1440"/>
            <a:ext cx="2249280" cy="106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8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accent2">
                  <a:lumMod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-22824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br>
              <a:rPr sz="3600"/>
            </a:b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Intelligent Land Record </a:t>
            </a:r>
            <a:br>
              <a:rPr sz="3000"/>
            </a:b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Digitization and Validation System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37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9D78588-2A2F-4A51-96C9-F7A3281CF498}" type="slidenum">
              <a: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Oval 9" descr="Your startup LOGO"/>
          <p:cNvSpPr/>
          <p:nvPr/>
        </p:nvSpPr>
        <p:spPr>
          <a:xfrm>
            <a:off x="329760" y="252360"/>
            <a:ext cx="149868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PrithviX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Picture 10"/>
          <p:cNvPicPr/>
          <p:nvPr/>
        </p:nvPicPr>
        <p:blipFill>
          <a:blip r:embed="rId1"/>
          <a:stretch/>
        </p:blipFill>
        <p:spPr>
          <a:xfrm>
            <a:off x="9780120" y="1440"/>
            <a:ext cx="2249280" cy="106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"/>
          <p:cNvPicPr/>
          <p:nvPr/>
        </p:nvPicPr>
        <p:blipFill>
          <a:blip r:embed="rId2"/>
          <a:srcRect l="0" t="0" r="0" b="6246"/>
          <a:stretch/>
        </p:blipFill>
        <p:spPr>
          <a:xfrm>
            <a:off x="1523160" y="1143000"/>
            <a:ext cx="4877280" cy="5211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"/>
          <p:cNvPicPr/>
          <p:nvPr/>
        </p:nvPicPr>
        <p:blipFill>
          <a:blip r:embed="rId3"/>
          <a:srcRect l="3745" t="58694" r="51479" b="11789"/>
          <a:stretch/>
        </p:blipFill>
        <p:spPr>
          <a:xfrm>
            <a:off x="7086960" y="1600200"/>
            <a:ext cx="4571280" cy="182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"/>
          <p:cNvPicPr/>
          <p:nvPr/>
        </p:nvPicPr>
        <p:blipFill>
          <a:blip r:embed="rId4"/>
          <a:srcRect l="51125" t="56391" r="2945" b="10261"/>
          <a:stretch/>
        </p:blipFill>
        <p:spPr>
          <a:xfrm>
            <a:off x="7086600" y="3886200"/>
            <a:ext cx="4722840" cy="2285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accent2">
                  <a:lumMod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TECHNICAL APPROACH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38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D9A3200-3C58-4DE9-877A-B7072FEC26DA}" type="slidenum">
              <a: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4" name="Picture 11"/>
          <p:cNvPicPr/>
          <p:nvPr/>
        </p:nvPicPr>
        <p:blipFill>
          <a:blip r:embed="rId1"/>
          <a:stretch/>
        </p:blipFill>
        <p:spPr>
          <a:xfrm>
            <a:off x="9780120" y="1440"/>
            <a:ext cx="2249280" cy="106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Oval 1" descr="Your startup LOGO"/>
          <p:cNvSpPr/>
          <p:nvPr/>
        </p:nvSpPr>
        <p:spPr>
          <a:xfrm>
            <a:off x="329760" y="252360"/>
            <a:ext cx="149868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PrithviX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"/>
          <p:cNvPicPr/>
          <p:nvPr/>
        </p:nvPicPr>
        <p:blipFill>
          <a:blip r:embed="rId2"/>
          <a:srcRect l="0" t="9999" r="0" b="6670"/>
          <a:stretch/>
        </p:blipFill>
        <p:spPr>
          <a:xfrm>
            <a:off x="457200" y="1194480"/>
            <a:ext cx="8960400" cy="4977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"/>
          <p:cNvPicPr/>
          <p:nvPr/>
        </p:nvPicPr>
        <p:blipFill>
          <a:blip r:embed="rId3"/>
          <a:srcRect l="21275" t="0" r="19119" b="3327"/>
          <a:stretch/>
        </p:blipFill>
        <p:spPr>
          <a:xfrm>
            <a:off x="9829800" y="1143000"/>
            <a:ext cx="2057040" cy="5046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953735"/>
              </a:solidFill>
              <a:effectLst/>
              <a:uFillTx/>
              <a:latin typeface="Calibri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FEASIBILITY AND VIABILITY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ldNum" idx="39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8AC7C41-6FA6-4CD8-85FC-0CCEAD248B15}" type="slidenum"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1" name="Picture 10"/>
          <p:cNvPicPr/>
          <p:nvPr/>
        </p:nvPicPr>
        <p:blipFill>
          <a:blip r:embed="rId1"/>
          <a:stretch/>
        </p:blipFill>
        <p:spPr>
          <a:xfrm>
            <a:off x="9780120" y="1440"/>
            <a:ext cx="2249280" cy="106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Oval 2" descr="Your startup LOGO"/>
          <p:cNvSpPr/>
          <p:nvPr/>
        </p:nvSpPr>
        <p:spPr>
          <a:xfrm>
            <a:off x="329760" y="252360"/>
            <a:ext cx="149868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PrithviX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457200" y="1600200"/>
            <a:ext cx="2971440" cy="414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Analysis of Feasibility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solution is technically feasible using established technologies such as OCR, AI/NLP, image processing, GIS, and centralized databases. Its modular pipeline allows document processing, extraction, classification, validation, and storage to be developed and tested independently.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3886200" y="1600200"/>
            <a:ext cx="3885840" cy="46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Potential Challenges &amp; Risks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Legacy documents may be poor-quality, damaged, handwritten, multilingual, or inconsistently formatted, which can reduce extraction accuracy. Conflicting land information may also make automated validation difficult, while large-scale digitization can increase processing and human-review requirements.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8001000" y="1600200"/>
            <a:ext cx="3885840" cy="550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Strategies for Overcoming Challenges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19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 pre processing can improve OCR quality, while AI-based classification combined with rule-based and GIS validation can detect inconsistencies. Low-confidence records can be routed for human verification, and the modular architecture allows individual components to be improved or scaled without redesigning the entire system.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953735"/>
              </a:solidFill>
              <a:effectLst/>
              <a:uFillTx/>
              <a:latin typeface="Calibri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IMPACT AND BENEFITS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ldNum" idx="40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B760B82-0B98-4EAE-B581-264318A7E888}" type="slidenum"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9" name="Picture 10"/>
          <p:cNvPicPr/>
          <p:nvPr/>
        </p:nvPicPr>
        <p:blipFill>
          <a:blip r:embed="rId1"/>
          <a:stretch/>
        </p:blipFill>
        <p:spPr>
          <a:xfrm>
            <a:off x="9780120" y="1440"/>
            <a:ext cx="2249280" cy="106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Oval 3" descr="Your startup LOGO"/>
          <p:cNvSpPr/>
          <p:nvPr/>
        </p:nvSpPr>
        <p:spPr>
          <a:xfrm>
            <a:off x="329760" y="107280"/>
            <a:ext cx="149868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PrithviX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"/>
          <p:cNvPicPr/>
          <p:nvPr/>
        </p:nvPicPr>
        <p:blipFill>
          <a:blip r:embed="rId2"/>
          <a:srcRect l="0" t="0" r="0" b="4315"/>
          <a:stretch/>
        </p:blipFill>
        <p:spPr>
          <a:xfrm>
            <a:off x="914760" y="1063440"/>
            <a:ext cx="10286280" cy="5257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r="5400000" dist="23040" rotWithShape="0">
              <a:srgbClr val="80808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953735"/>
              </a:solidFill>
              <a:effectLst/>
              <a:uFillTx/>
              <a:latin typeface="Calibri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RESEARCH  AND REFERENCES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ldNum" idx="4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D849023-6096-4EAA-A578-A14ED03BE05D}" type="slidenum"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5" name="Picture 11"/>
          <p:cNvPicPr/>
          <p:nvPr/>
        </p:nvPicPr>
        <p:blipFill>
          <a:blip r:embed="rId1"/>
          <a:stretch/>
        </p:blipFill>
        <p:spPr>
          <a:xfrm>
            <a:off x="9780120" y="1440"/>
            <a:ext cx="2249280" cy="106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Oval 4" descr="Your startup LOGO"/>
          <p:cNvSpPr/>
          <p:nvPr/>
        </p:nvSpPr>
        <p:spPr>
          <a:xfrm>
            <a:off x="329760" y="252360"/>
            <a:ext cx="149868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PrithviX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914760" y="1246320"/>
            <a:ext cx="10286640" cy="46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Digital India Land Records Modernization Programme (DILRMP)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dolr.gov.in/en/document-category/program-dilrmp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DILRMP MIS 4.0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                                                                       dilrmp.gov.in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DILRMP 3.0 Operational Guidelines (2026–2031)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cdnbbsr.s3waas.gov.in/s3d69116f8b0140cdeb1f99a4d5096ffe4/uploads/2026/08/20260827600317271.pdf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ULPIN / Bhu-Aadhaar Press relese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www.pib.gov.in/Pressreleaseshare.aspx?PRID=1932867&amp;lang=2&amp;reg=48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Paddle OCR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                                        www.paddleocr.ai/main/en/index/index.html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 CV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                                                                     github.com/opencv/opencv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7489</TotalTime>
  <Application>LibreOffice/26.2.6.1$Linux_X86_64 LibreOffice_project/620$Build-1</Application>
  <AppVersion>15.0000</AppVersion>
  <Words>325</Words>
  <Paragraphs>62</Paragraphs>
  <Company>Crowdfunder, Inc.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  <dc:description/>
  <dc:language>en-US</dc:language>
  <cp:lastModifiedBy/>
  <dcterms:modified xsi:type="dcterms:W3CDTF">2026-09-07T20:30:30Z</dcterms:modified>
  <cp:revision>150</cp:revision>
  <dc:subject/>
  <dc:title>Investor Pitch Deck Template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Widescreen</vt:lpwstr>
  </property>
  <property fmtid="{D5CDD505-2E9C-101B-9397-08002B2CF9AE}" pid="4" name="Slides">
    <vt:i4>7</vt:i4>
  </property>
</Properties>
</file>